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6"/>
    </p:embeddedFont>
    <p:embeddedFont>
      <p:font typeface="Inter" charset="1" panose="02000503000000020004"/>
      <p:regular r:id="rId17"/>
    </p:embeddedFont>
    <p:embeddedFont>
      <p:font typeface="League Spartan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8133" y="-2879116"/>
            <a:ext cx="8468495" cy="6987540"/>
            <a:chOff x="0" y="0"/>
            <a:chExt cx="2230385" cy="1840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0385" cy="1840340"/>
            </a:xfrm>
            <a:custGeom>
              <a:avLst/>
              <a:gdLst/>
              <a:ahLst/>
              <a:cxnLst/>
              <a:rect r="r" b="b" t="t" l="l"/>
              <a:pathLst>
                <a:path h="1840340" w="2230385">
                  <a:moveTo>
                    <a:pt x="44796" y="0"/>
                  </a:moveTo>
                  <a:lnTo>
                    <a:pt x="2185589" y="0"/>
                  </a:lnTo>
                  <a:cubicBezTo>
                    <a:pt x="2197470" y="0"/>
                    <a:pt x="2208864" y="4720"/>
                    <a:pt x="2217265" y="13120"/>
                  </a:cubicBezTo>
                  <a:cubicBezTo>
                    <a:pt x="2225666" y="21521"/>
                    <a:pt x="2230385" y="32915"/>
                    <a:pt x="2230385" y="44796"/>
                  </a:cubicBezTo>
                  <a:lnTo>
                    <a:pt x="2230385" y="1795544"/>
                  </a:lnTo>
                  <a:cubicBezTo>
                    <a:pt x="2230385" y="1807425"/>
                    <a:pt x="2225666" y="1818818"/>
                    <a:pt x="2217265" y="1827219"/>
                  </a:cubicBezTo>
                  <a:cubicBezTo>
                    <a:pt x="2208864" y="1835620"/>
                    <a:pt x="2197470" y="1840340"/>
                    <a:pt x="2185589" y="1840340"/>
                  </a:cubicBezTo>
                  <a:lnTo>
                    <a:pt x="44796" y="1840340"/>
                  </a:lnTo>
                  <a:cubicBezTo>
                    <a:pt x="32915" y="1840340"/>
                    <a:pt x="21521" y="1835620"/>
                    <a:pt x="13120" y="1827219"/>
                  </a:cubicBezTo>
                  <a:cubicBezTo>
                    <a:pt x="4720" y="1818818"/>
                    <a:pt x="0" y="1807425"/>
                    <a:pt x="0" y="1795544"/>
                  </a:cubicBezTo>
                  <a:lnTo>
                    <a:pt x="0" y="44796"/>
                  </a:lnTo>
                  <a:cubicBezTo>
                    <a:pt x="0" y="32915"/>
                    <a:pt x="4720" y="21521"/>
                    <a:pt x="13120" y="13120"/>
                  </a:cubicBezTo>
                  <a:cubicBezTo>
                    <a:pt x="21521" y="4720"/>
                    <a:pt x="32915" y="0"/>
                    <a:pt x="4479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30385" cy="1878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31922" y="6793230"/>
            <a:ext cx="8468495" cy="6987540"/>
            <a:chOff x="0" y="0"/>
            <a:chExt cx="2230385" cy="18403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0385" cy="1840340"/>
            </a:xfrm>
            <a:custGeom>
              <a:avLst/>
              <a:gdLst/>
              <a:ahLst/>
              <a:cxnLst/>
              <a:rect r="r" b="b" t="t" l="l"/>
              <a:pathLst>
                <a:path h="1840340" w="2230385">
                  <a:moveTo>
                    <a:pt x="44796" y="0"/>
                  </a:moveTo>
                  <a:lnTo>
                    <a:pt x="2185589" y="0"/>
                  </a:lnTo>
                  <a:cubicBezTo>
                    <a:pt x="2197470" y="0"/>
                    <a:pt x="2208864" y="4720"/>
                    <a:pt x="2217265" y="13120"/>
                  </a:cubicBezTo>
                  <a:cubicBezTo>
                    <a:pt x="2225666" y="21521"/>
                    <a:pt x="2230385" y="32915"/>
                    <a:pt x="2230385" y="44796"/>
                  </a:cubicBezTo>
                  <a:lnTo>
                    <a:pt x="2230385" y="1795544"/>
                  </a:lnTo>
                  <a:cubicBezTo>
                    <a:pt x="2230385" y="1807425"/>
                    <a:pt x="2225666" y="1818818"/>
                    <a:pt x="2217265" y="1827219"/>
                  </a:cubicBezTo>
                  <a:cubicBezTo>
                    <a:pt x="2208864" y="1835620"/>
                    <a:pt x="2197470" y="1840340"/>
                    <a:pt x="2185589" y="1840340"/>
                  </a:cubicBezTo>
                  <a:lnTo>
                    <a:pt x="44796" y="1840340"/>
                  </a:lnTo>
                  <a:cubicBezTo>
                    <a:pt x="32915" y="1840340"/>
                    <a:pt x="21521" y="1835620"/>
                    <a:pt x="13120" y="1827219"/>
                  </a:cubicBezTo>
                  <a:cubicBezTo>
                    <a:pt x="4720" y="1818818"/>
                    <a:pt x="0" y="1807425"/>
                    <a:pt x="0" y="1795544"/>
                  </a:cubicBezTo>
                  <a:lnTo>
                    <a:pt x="0" y="44796"/>
                  </a:lnTo>
                  <a:cubicBezTo>
                    <a:pt x="0" y="32915"/>
                    <a:pt x="4720" y="21521"/>
                    <a:pt x="13120" y="13120"/>
                  </a:cubicBezTo>
                  <a:cubicBezTo>
                    <a:pt x="21521" y="4720"/>
                    <a:pt x="32915" y="0"/>
                    <a:pt x="4479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30385" cy="1878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74696" y="1538538"/>
            <a:ext cx="6182946" cy="7209925"/>
            <a:chOff x="0" y="0"/>
            <a:chExt cx="1148494" cy="13392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8494" cy="1339257"/>
            </a:xfrm>
            <a:custGeom>
              <a:avLst/>
              <a:gdLst/>
              <a:ahLst/>
              <a:cxnLst/>
              <a:rect r="r" b="b" t="t" l="l"/>
              <a:pathLst>
                <a:path h="1339257" w="1148494">
                  <a:moveTo>
                    <a:pt x="125214" y="0"/>
                  </a:moveTo>
                  <a:lnTo>
                    <a:pt x="1023280" y="0"/>
                  </a:lnTo>
                  <a:cubicBezTo>
                    <a:pt x="1056489" y="0"/>
                    <a:pt x="1088338" y="13192"/>
                    <a:pt x="1111820" y="36674"/>
                  </a:cubicBezTo>
                  <a:cubicBezTo>
                    <a:pt x="1135302" y="60157"/>
                    <a:pt x="1148494" y="92005"/>
                    <a:pt x="1148494" y="125214"/>
                  </a:cubicBezTo>
                  <a:lnTo>
                    <a:pt x="1148494" y="1214043"/>
                  </a:lnTo>
                  <a:cubicBezTo>
                    <a:pt x="1148494" y="1247252"/>
                    <a:pt x="1135302" y="1279101"/>
                    <a:pt x="1111820" y="1302583"/>
                  </a:cubicBezTo>
                  <a:cubicBezTo>
                    <a:pt x="1088338" y="1326065"/>
                    <a:pt x="1056489" y="1339257"/>
                    <a:pt x="1023280" y="1339257"/>
                  </a:cubicBezTo>
                  <a:lnTo>
                    <a:pt x="125214" y="1339257"/>
                  </a:lnTo>
                  <a:cubicBezTo>
                    <a:pt x="92005" y="1339257"/>
                    <a:pt x="60157" y="1326065"/>
                    <a:pt x="36674" y="1302583"/>
                  </a:cubicBezTo>
                  <a:cubicBezTo>
                    <a:pt x="13192" y="1279101"/>
                    <a:pt x="0" y="1247252"/>
                    <a:pt x="0" y="1214043"/>
                  </a:cubicBezTo>
                  <a:lnTo>
                    <a:pt x="0" y="125214"/>
                  </a:lnTo>
                  <a:cubicBezTo>
                    <a:pt x="0" y="92005"/>
                    <a:pt x="13192" y="60157"/>
                    <a:pt x="36674" y="36674"/>
                  </a:cubicBezTo>
                  <a:cubicBezTo>
                    <a:pt x="60157" y="13192"/>
                    <a:pt x="92005" y="0"/>
                    <a:pt x="125214" y="0"/>
                  </a:cubicBezTo>
                  <a:close/>
                </a:path>
              </a:pathLst>
            </a:custGeom>
            <a:blipFill>
              <a:blip r:embed="rId2"/>
              <a:stretch>
                <a:fillRect l="-48066" t="0" r="-48066" b="0"/>
              </a:stretch>
            </a:blipFill>
            <a:ln w="142875" cap="rnd">
              <a:solidFill>
                <a:srgbClr val="F3F3F3"/>
              </a:soli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55570" y="8528170"/>
            <a:ext cx="440585" cy="440585"/>
          </a:xfrm>
          <a:custGeom>
            <a:avLst/>
            <a:gdLst/>
            <a:ahLst/>
            <a:cxnLst/>
            <a:rect r="r" b="b" t="t" l="l"/>
            <a:pathLst>
              <a:path h="440585" w="440585">
                <a:moveTo>
                  <a:pt x="0" y="0"/>
                </a:moveTo>
                <a:lnTo>
                  <a:pt x="440585" y="0"/>
                </a:lnTo>
                <a:lnTo>
                  <a:pt x="440585" y="440585"/>
                </a:lnTo>
                <a:lnTo>
                  <a:pt x="0" y="44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125703"/>
            <a:ext cx="7998480" cy="224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0"/>
              </a:lnSpc>
            </a:pPr>
            <a:r>
              <a:rPr lang="en-US" sz="7534" b="true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Fitness Tracking</a:t>
            </a:r>
          </a:p>
          <a:p>
            <a:pPr algn="l">
              <a:lnSpc>
                <a:spcPts val="8890"/>
              </a:lnSpc>
            </a:pPr>
            <a:r>
              <a:rPr lang="en-US" sz="7534" b="true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Eye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60026"/>
            <a:ext cx="22331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B0A0A"/>
                </a:solidFill>
                <a:latin typeface="Inter"/>
                <a:ea typeface="Inter"/>
                <a:cs typeface="Inter"/>
                <a:sym typeface="Inter"/>
              </a:rPr>
              <a:t>Dibuat oleh: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129044"/>
            <a:ext cx="422227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  <a:spcBef>
                <a:spcPct val="0"/>
              </a:spcBef>
            </a:pPr>
            <a:r>
              <a:rPr lang="en-US" b="true" sz="2999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Dharma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0220" y="1050344"/>
            <a:ext cx="2113179" cy="38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459">
                <a:solidFill>
                  <a:srgbClr val="0B0A0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Howart’s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8299" y="8508195"/>
            <a:ext cx="5524979" cy="43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sz="2709">
                <a:solidFill>
                  <a:srgbClr val="0B0A0A"/>
                </a:solidFill>
                <a:latin typeface="Inter"/>
                <a:ea typeface="Inter"/>
                <a:cs typeface="Inter"/>
                <a:sym typeface="Inter"/>
              </a:rPr>
              <a:t>https://www.howarts.tech/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55570" y="894491"/>
            <a:ext cx="692729" cy="716782"/>
          </a:xfrm>
          <a:custGeom>
            <a:avLst/>
            <a:gdLst/>
            <a:ahLst/>
            <a:cxnLst/>
            <a:rect r="r" b="b" t="t" l="l"/>
            <a:pathLst>
              <a:path h="716782" w="692729">
                <a:moveTo>
                  <a:pt x="0" y="0"/>
                </a:moveTo>
                <a:lnTo>
                  <a:pt x="692729" y="0"/>
                </a:lnTo>
                <a:lnTo>
                  <a:pt x="692729" y="716782"/>
                </a:lnTo>
                <a:lnTo>
                  <a:pt x="0" y="716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18015" y="1538538"/>
            <a:ext cx="6182946" cy="7209925"/>
            <a:chOff x="0" y="0"/>
            <a:chExt cx="1148494" cy="1339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8494" cy="1339257"/>
            </a:xfrm>
            <a:custGeom>
              <a:avLst/>
              <a:gdLst/>
              <a:ahLst/>
              <a:cxnLst/>
              <a:rect r="r" b="b" t="t" l="l"/>
              <a:pathLst>
                <a:path h="1339257" w="1148494">
                  <a:moveTo>
                    <a:pt x="125214" y="0"/>
                  </a:moveTo>
                  <a:lnTo>
                    <a:pt x="1023280" y="0"/>
                  </a:lnTo>
                  <a:cubicBezTo>
                    <a:pt x="1056489" y="0"/>
                    <a:pt x="1088338" y="13192"/>
                    <a:pt x="1111820" y="36674"/>
                  </a:cubicBezTo>
                  <a:cubicBezTo>
                    <a:pt x="1135302" y="60157"/>
                    <a:pt x="1148494" y="92005"/>
                    <a:pt x="1148494" y="125214"/>
                  </a:cubicBezTo>
                  <a:lnTo>
                    <a:pt x="1148494" y="1214043"/>
                  </a:lnTo>
                  <a:cubicBezTo>
                    <a:pt x="1148494" y="1247252"/>
                    <a:pt x="1135302" y="1279101"/>
                    <a:pt x="1111820" y="1302583"/>
                  </a:cubicBezTo>
                  <a:cubicBezTo>
                    <a:pt x="1088338" y="1326065"/>
                    <a:pt x="1056489" y="1339257"/>
                    <a:pt x="1023280" y="1339257"/>
                  </a:cubicBezTo>
                  <a:lnTo>
                    <a:pt x="125214" y="1339257"/>
                  </a:lnTo>
                  <a:cubicBezTo>
                    <a:pt x="92005" y="1339257"/>
                    <a:pt x="60157" y="1326065"/>
                    <a:pt x="36674" y="1302583"/>
                  </a:cubicBezTo>
                  <a:cubicBezTo>
                    <a:pt x="13192" y="1279101"/>
                    <a:pt x="0" y="1247252"/>
                    <a:pt x="0" y="1214043"/>
                  </a:cubicBezTo>
                  <a:lnTo>
                    <a:pt x="0" y="125214"/>
                  </a:lnTo>
                  <a:cubicBezTo>
                    <a:pt x="0" y="92005"/>
                    <a:pt x="13192" y="60157"/>
                    <a:pt x="36674" y="36674"/>
                  </a:cubicBezTo>
                  <a:cubicBezTo>
                    <a:pt x="60157" y="13192"/>
                    <a:pt x="92005" y="0"/>
                    <a:pt x="125214" y="0"/>
                  </a:cubicBezTo>
                  <a:close/>
                </a:path>
              </a:pathLst>
            </a:custGeom>
            <a:blipFill>
              <a:blip r:embed="rId2"/>
              <a:stretch>
                <a:fillRect l="-48066" t="0" r="-4806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833198" y="5143500"/>
            <a:ext cx="409428" cy="409428"/>
          </a:xfrm>
          <a:custGeom>
            <a:avLst/>
            <a:gdLst/>
            <a:ahLst/>
            <a:cxnLst/>
            <a:rect r="r" b="b" t="t" l="l"/>
            <a:pathLst>
              <a:path h="409428" w="409428">
                <a:moveTo>
                  <a:pt x="0" y="0"/>
                </a:moveTo>
                <a:lnTo>
                  <a:pt x="409429" y="0"/>
                </a:lnTo>
                <a:lnTo>
                  <a:pt x="409429" y="409428"/>
                </a:lnTo>
                <a:lnTo>
                  <a:pt x="0" y="409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33198" y="6506202"/>
            <a:ext cx="409428" cy="409428"/>
          </a:xfrm>
          <a:custGeom>
            <a:avLst/>
            <a:gdLst/>
            <a:ahLst/>
            <a:cxnLst/>
            <a:rect r="r" b="b" t="t" l="l"/>
            <a:pathLst>
              <a:path h="409428" w="409428">
                <a:moveTo>
                  <a:pt x="0" y="0"/>
                </a:moveTo>
                <a:lnTo>
                  <a:pt x="409429" y="0"/>
                </a:lnTo>
                <a:lnTo>
                  <a:pt x="409429" y="409428"/>
                </a:lnTo>
                <a:lnTo>
                  <a:pt x="0" y="409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33198" y="7868130"/>
            <a:ext cx="407692" cy="407692"/>
          </a:xfrm>
          <a:custGeom>
            <a:avLst/>
            <a:gdLst/>
            <a:ahLst/>
            <a:cxnLst/>
            <a:rect r="r" b="b" t="t" l="l"/>
            <a:pathLst>
              <a:path h="407692" w="407692">
                <a:moveTo>
                  <a:pt x="0" y="0"/>
                </a:moveTo>
                <a:lnTo>
                  <a:pt x="407693" y="0"/>
                </a:lnTo>
                <a:lnTo>
                  <a:pt x="407693" y="407693"/>
                </a:lnTo>
                <a:lnTo>
                  <a:pt x="0" y="407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84297"/>
            <a:ext cx="7763029" cy="194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sz="4351" b="true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Transformasi Digital untuk Pertumbuhan Bisnis Berkelanjutan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3319" y="6411525"/>
            <a:ext cx="5299442" cy="92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422">
                <a:solidFill>
                  <a:srgbClr val="0B0A0A"/>
                </a:solidFill>
                <a:latin typeface="Inter"/>
                <a:ea typeface="Inter"/>
                <a:cs typeface="Inter"/>
                <a:sym typeface="Inter"/>
              </a:rPr>
              <a:t>Fokus pada efisiensi biaya perolehan pelanggan (CAC)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3319" y="7867410"/>
            <a:ext cx="6238453" cy="92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422">
                <a:solidFill>
                  <a:srgbClr val="0B0A0A"/>
                </a:solidFill>
                <a:latin typeface="Inter"/>
                <a:ea typeface="Inter"/>
                <a:cs typeface="Inter"/>
                <a:sym typeface="Inter"/>
              </a:rPr>
              <a:t>Pemanfaatan data untuk pengambilan keputusan (Data-Driven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53319" y="5099582"/>
            <a:ext cx="6238453" cy="45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422">
                <a:solidFill>
                  <a:srgbClr val="0B0A0A"/>
                </a:solidFill>
                <a:latin typeface="Inter"/>
                <a:ea typeface="Inter"/>
                <a:cs typeface="Inter"/>
                <a:sym typeface="Inter"/>
              </a:rPr>
              <a:t>Peningkatan nilai seumur hidup pelanggan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465472"/>
            <a:ext cx="8338728" cy="102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  <a:spcBef>
                <a:spcPct val="0"/>
              </a:spcBef>
            </a:pPr>
            <a:r>
              <a:rPr lang="en-US" sz="21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1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orem ipsum dolor sit amet, consectetur adipiscing elit. Donec quis erat et quam iaculis faucibus at sit amet nibh. Vestibulum dignissim lectus in ligula rhoncus, et bibendum risus dictum.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8995" y="1381425"/>
            <a:ext cx="705451" cy="7054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59312" y="1502058"/>
            <a:ext cx="584818" cy="584818"/>
          </a:xfrm>
          <a:custGeom>
            <a:avLst/>
            <a:gdLst/>
            <a:ahLst/>
            <a:cxnLst/>
            <a:rect r="r" b="b" t="t" l="l"/>
            <a:pathLst>
              <a:path h="584818" w="584818">
                <a:moveTo>
                  <a:pt x="0" y="0"/>
                </a:moveTo>
                <a:lnTo>
                  <a:pt x="584818" y="0"/>
                </a:lnTo>
                <a:lnTo>
                  <a:pt x="584818" y="584818"/>
                </a:lnTo>
                <a:lnTo>
                  <a:pt x="0" y="58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486135"/>
            <a:ext cx="9135204" cy="4114083"/>
            <a:chOff x="0" y="0"/>
            <a:chExt cx="2481276" cy="11174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81276" cy="1117454"/>
            </a:xfrm>
            <a:custGeom>
              <a:avLst/>
              <a:gdLst/>
              <a:ahLst/>
              <a:cxnLst/>
              <a:rect r="r" b="b" t="t" l="l"/>
              <a:pathLst>
                <a:path h="1117454" w="2481276">
                  <a:moveTo>
                    <a:pt x="84748" y="0"/>
                  </a:moveTo>
                  <a:lnTo>
                    <a:pt x="2396528" y="0"/>
                  </a:lnTo>
                  <a:cubicBezTo>
                    <a:pt x="2419004" y="0"/>
                    <a:pt x="2440560" y="8929"/>
                    <a:pt x="2456454" y="24822"/>
                  </a:cubicBezTo>
                  <a:cubicBezTo>
                    <a:pt x="2472347" y="40716"/>
                    <a:pt x="2481276" y="62272"/>
                    <a:pt x="2481276" y="84748"/>
                  </a:cubicBezTo>
                  <a:lnTo>
                    <a:pt x="2481276" y="1032706"/>
                  </a:lnTo>
                  <a:cubicBezTo>
                    <a:pt x="2481276" y="1055183"/>
                    <a:pt x="2472347" y="1076739"/>
                    <a:pt x="2456454" y="1092632"/>
                  </a:cubicBezTo>
                  <a:cubicBezTo>
                    <a:pt x="2440560" y="1108526"/>
                    <a:pt x="2419004" y="1117454"/>
                    <a:pt x="2396528" y="1117454"/>
                  </a:cubicBezTo>
                  <a:lnTo>
                    <a:pt x="84748" y="1117454"/>
                  </a:lnTo>
                  <a:cubicBezTo>
                    <a:pt x="62272" y="1117454"/>
                    <a:pt x="40716" y="1108526"/>
                    <a:pt x="24822" y="1092632"/>
                  </a:cubicBezTo>
                  <a:cubicBezTo>
                    <a:pt x="8929" y="1076739"/>
                    <a:pt x="0" y="1055183"/>
                    <a:pt x="0" y="1032706"/>
                  </a:cubicBezTo>
                  <a:lnTo>
                    <a:pt x="0" y="84748"/>
                  </a:lnTo>
                  <a:cubicBezTo>
                    <a:pt x="0" y="62272"/>
                    <a:pt x="8929" y="40716"/>
                    <a:pt x="24822" y="24822"/>
                  </a:cubicBezTo>
                  <a:cubicBezTo>
                    <a:pt x="40716" y="8929"/>
                    <a:pt x="62272" y="0"/>
                    <a:pt x="8474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082" r="0" b="-2408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0692" y="1444908"/>
            <a:ext cx="517071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Sasaran (KPI Utama)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6080" y="967134"/>
            <a:ext cx="6177643" cy="200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5"/>
              </a:lnSpc>
            </a:pPr>
            <a:r>
              <a:rPr lang="en-US" sz="66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Visi &amp; Sasaran Strategis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78292" y="2414283"/>
            <a:ext cx="5170714" cy="16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Lead Generation : Menghasilkan 2.000 prospek per bulan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30692" y="7450108"/>
            <a:ext cx="5170714" cy="215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Conversion Rate : Meningkatkan tingkat konversi digital dari 2% menajdi 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30692" y="4678552"/>
            <a:ext cx="5018314" cy="211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9562" indent="-324781" lvl="1">
              <a:lnSpc>
                <a:spcPts val="4212"/>
              </a:lnSpc>
              <a:buFont typeface="Arial"/>
              <a:buChar char="•"/>
            </a:pPr>
            <a:r>
              <a:rPr lang="en-US" sz="300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Brand Awareness : Meningkatkan jangkauan organik sebesar 40%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465472"/>
            <a:ext cx="8338728" cy="102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  <a:spcBef>
                <a:spcPct val="0"/>
              </a:spcBef>
            </a:pPr>
            <a:r>
              <a:rPr lang="en-US" sz="212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12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orem ipsum dolor sit amet, consectetur adipiscing elit. Donec quis erat et quam iaculis faucibus at sit amet nibh. Vestibulum dignissim lectus in ligula rhoncus, et bibendum risus dictum.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150" y="1677820"/>
            <a:ext cx="10669905" cy="191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1"/>
              </a:lnSpc>
            </a:pPr>
            <a:r>
              <a:rPr lang="en-US" sz="63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Analisis Pasar dan Kompetitor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4027" y="6909920"/>
            <a:ext cx="832485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619"/>
              </a:lnSpc>
              <a:buFont typeface="Arial"/>
              <a:buChar char="•"/>
            </a:pPr>
            <a:r>
              <a:rPr lang="en-US" sz="299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Kondisi Pasar : Terjadi pergeseran perilaku  sebesar 65%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14223" y="855106"/>
            <a:ext cx="9758266" cy="857678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19150" y="4794178"/>
            <a:ext cx="7122624" cy="136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  <a:spcBef>
                <a:spcPct val="0"/>
              </a:spcBef>
            </a:pPr>
            <a:r>
              <a:rPr lang="en-US" sz="212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12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orem ipsum dolor sit amet, consectetur adipiscing elit. Donec quis erat et quam iaculis faucibus at sit amet nibh. Vestibulum dignissim lectus in ligula rhoncus, et bibendum risus dictum.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0824705" cy="89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2"/>
              </a:lnSpc>
            </a:pPr>
            <a:r>
              <a:rPr lang="en-US" sz="598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Target Audiens &amp; Persona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85209"/>
            <a:ext cx="9373133" cy="705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02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Karakteristik:</a:t>
            </a:r>
          </a:p>
          <a:p>
            <a:pPr algn="l" marL="654098" indent="-327049" lvl="1">
              <a:lnSpc>
                <a:spcPts val="4665"/>
              </a:lnSpc>
              <a:buAutoNum type="arabicPeriod" startAt="1"/>
            </a:pPr>
            <a:r>
              <a:rPr lang="en-US" sz="302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 Bekerja di area urban, sangat mengandalkan ulasan di internet sebelum membeli</a:t>
            </a:r>
          </a:p>
          <a:p>
            <a:pPr algn="l" marL="654098" indent="-327049" lvl="1">
              <a:lnSpc>
                <a:spcPts val="4665"/>
              </a:lnSpc>
              <a:buAutoNum type="arabicPeriod" startAt="1"/>
            </a:pPr>
            <a:r>
              <a:rPr lang="en-US" sz="302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Mengutamakan kenyamanan dan kecepatan layanan</a:t>
            </a:r>
          </a:p>
          <a:p>
            <a:pPr algn="l">
              <a:lnSpc>
                <a:spcPts val="4665"/>
              </a:lnSpc>
            </a:pPr>
            <a:r>
              <a:rPr lang="en-US" sz="302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Tujuan: </a:t>
            </a:r>
          </a:p>
          <a:p>
            <a:pPr algn="l" marL="654098" indent="-327049" lvl="1">
              <a:lnSpc>
                <a:spcPts val="4665"/>
              </a:lnSpc>
              <a:buFont typeface="Arial"/>
              <a:buChar char="•"/>
            </a:pPr>
            <a:r>
              <a:rPr lang="en-US" sz="302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Mencari solusi yang efisien untuk masalah sehari-hari</a:t>
            </a:r>
          </a:p>
          <a:p>
            <a:pPr algn="l">
              <a:lnSpc>
                <a:spcPts val="4665"/>
              </a:lnSpc>
            </a:pPr>
            <a:r>
              <a:rPr lang="en-US" sz="302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Hambatan: </a:t>
            </a:r>
          </a:p>
          <a:p>
            <a:pPr algn="l" marL="654098" indent="-327049" lvl="1">
              <a:lnSpc>
                <a:spcPts val="4665"/>
              </a:lnSpc>
              <a:buFont typeface="Arial"/>
              <a:buChar char="•"/>
            </a:pPr>
            <a:r>
              <a:rPr lang="en-US" sz="302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Kurang percaya pada iklan yang terlalu keras “hard selling”</a:t>
            </a:r>
          </a:p>
          <a:p>
            <a:pPr algn="l">
              <a:lnSpc>
                <a:spcPts val="466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359798" y="-493132"/>
            <a:ext cx="7829019" cy="10960295"/>
            <a:chOff x="0" y="0"/>
            <a:chExt cx="2126494" cy="2977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6494" cy="2977001"/>
            </a:xfrm>
            <a:custGeom>
              <a:avLst/>
              <a:gdLst/>
              <a:ahLst/>
              <a:cxnLst/>
              <a:rect r="r" b="b" t="t" l="l"/>
              <a:pathLst>
                <a:path h="2977001" w="2126494">
                  <a:moveTo>
                    <a:pt x="98887" y="0"/>
                  </a:moveTo>
                  <a:lnTo>
                    <a:pt x="2027606" y="0"/>
                  </a:lnTo>
                  <a:cubicBezTo>
                    <a:pt x="2082220" y="0"/>
                    <a:pt x="2126494" y="44273"/>
                    <a:pt x="2126494" y="98887"/>
                  </a:cubicBezTo>
                  <a:lnTo>
                    <a:pt x="2126494" y="2878114"/>
                  </a:lnTo>
                  <a:cubicBezTo>
                    <a:pt x="2126494" y="2932728"/>
                    <a:pt x="2082220" y="2977001"/>
                    <a:pt x="2027606" y="2977001"/>
                  </a:cubicBezTo>
                  <a:lnTo>
                    <a:pt x="98887" y="2977001"/>
                  </a:lnTo>
                  <a:cubicBezTo>
                    <a:pt x="44273" y="2977001"/>
                    <a:pt x="0" y="2932728"/>
                    <a:pt x="0" y="2878114"/>
                  </a:cubicBezTo>
                  <a:lnTo>
                    <a:pt x="0" y="98887"/>
                  </a:lnTo>
                  <a:cubicBezTo>
                    <a:pt x="0" y="44273"/>
                    <a:pt x="44273" y="0"/>
                    <a:pt x="98887" y="0"/>
                  </a:cubicBezTo>
                  <a:close/>
                </a:path>
              </a:pathLst>
            </a:custGeom>
            <a:blipFill>
              <a:blip r:embed="rId2"/>
              <a:stretch>
                <a:fillRect l="-74440" t="0" r="-7444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7607" y="1038225"/>
            <a:ext cx="7916393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2"/>
              </a:lnSpc>
            </a:pPr>
            <a:r>
              <a:rPr lang="en-US" sz="5231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Pilihan Saluran Digital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630355"/>
            <a:ext cx="8964465" cy="184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850" indent="-378425" lvl="1">
              <a:lnSpc>
                <a:spcPts val="4907"/>
              </a:lnSpc>
              <a:buFont typeface="Arial"/>
              <a:buChar char="•"/>
            </a:pPr>
            <a:r>
              <a:rPr lang="en-US" sz="3505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SEO &amp; SEM (High Intent) </a:t>
            </a:r>
          </a:p>
          <a:p>
            <a:pPr algn="l" marL="756850" indent="-378425" lvl="1">
              <a:lnSpc>
                <a:spcPts val="4907"/>
              </a:lnSpc>
              <a:buFont typeface="Arial"/>
              <a:buChar char="•"/>
            </a:pPr>
            <a:r>
              <a:rPr lang="en-US" sz="3505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Social Media (Awaraness) </a:t>
            </a:r>
          </a:p>
          <a:p>
            <a:pPr algn="l" marL="756850" indent="-378425" lvl="1">
              <a:lnSpc>
                <a:spcPts val="4907"/>
              </a:lnSpc>
              <a:buFont typeface="Arial"/>
              <a:buChar char="•"/>
            </a:pPr>
            <a:r>
              <a:rPr lang="en-US" sz="3505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Email &amp; CRM (Retention)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39558" y="618355"/>
            <a:ext cx="8301948" cy="4114083"/>
            <a:chOff x="0" y="0"/>
            <a:chExt cx="2254949" cy="1117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4949" cy="1117454"/>
            </a:xfrm>
            <a:custGeom>
              <a:avLst/>
              <a:gdLst/>
              <a:ahLst/>
              <a:cxnLst/>
              <a:rect r="r" b="b" t="t" l="l"/>
              <a:pathLst>
                <a:path h="1117454" w="2254949">
                  <a:moveTo>
                    <a:pt x="93254" y="0"/>
                  </a:moveTo>
                  <a:lnTo>
                    <a:pt x="2161695" y="0"/>
                  </a:lnTo>
                  <a:cubicBezTo>
                    <a:pt x="2213198" y="0"/>
                    <a:pt x="2254949" y="41751"/>
                    <a:pt x="2254949" y="93254"/>
                  </a:cubicBezTo>
                  <a:lnTo>
                    <a:pt x="2254949" y="1024200"/>
                  </a:lnTo>
                  <a:cubicBezTo>
                    <a:pt x="2254949" y="1075703"/>
                    <a:pt x="2213198" y="1117454"/>
                    <a:pt x="2161695" y="1117454"/>
                  </a:cubicBezTo>
                  <a:lnTo>
                    <a:pt x="93254" y="1117454"/>
                  </a:lnTo>
                  <a:cubicBezTo>
                    <a:pt x="41751" y="1117454"/>
                    <a:pt x="0" y="1075703"/>
                    <a:pt x="0" y="1024200"/>
                  </a:cubicBezTo>
                  <a:lnTo>
                    <a:pt x="0" y="93254"/>
                  </a:lnTo>
                  <a:cubicBezTo>
                    <a:pt x="0" y="41751"/>
                    <a:pt x="41751" y="0"/>
                    <a:pt x="9325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325" r="0" b="-173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855786" y="5288218"/>
            <a:ext cx="8301948" cy="4114083"/>
            <a:chOff x="0" y="0"/>
            <a:chExt cx="2254949" cy="11174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4949" cy="1117454"/>
            </a:xfrm>
            <a:custGeom>
              <a:avLst/>
              <a:gdLst/>
              <a:ahLst/>
              <a:cxnLst/>
              <a:rect r="r" b="b" t="t" l="l"/>
              <a:pathLst>
                <a:path h="1117454" w="2254949">
                  <a:moveTo>
                    <a:pt x="93254" y="0"/>
                  </a:moveTo>
                  <a:lnTo>
                    <a:pt x="2161695" y="0"/>
                  </a:lnTo>
                  <a:cubicBezTo>
                    <a:pt x="2213198" y="0"/>
                    <a:pt x="2254949" y="41751"/>
                    <a:pt x="2254949" y="93254"/>
                  </a:cubicBezTo>
                  <a:lnTo>
                    <a:pt x="2254949" y="1024200"/>
                  </a:lnTo>
                  <a:cubicBezTo>
                    <a:pt x="2254949" y="1075703"/>
                    <a:pt x="2213198" y="1117454"/>
                    <a:pt x="2161695" y="1117454"/>
                  </a:cubicBezTo>
                  <a:lnTo>
                    <a:pt x="93254" y="1117454"/>
                  </a:lnTo>
                  <a:cubicBezTo>
                    <a:pt x="41751" y="1117454"/>
                    <a:pt x="0" y="1075703"/>
                    <a:pt x="0" y="1024200"/>
                  </a:cubicBezTo>
                  <a:lnTo>
                    <a:pt x="0" y="93254"/>
                  </a:lnTo>
                  <a:cubicBezTo>
                    <a:pt x="0" y="41751"/>
                    <a:pt x="41751" y="0"/>
                    <a:pt x="9325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685" r="0" b="-668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7607" y="3140661"/>
            <a:ext cx="8115300" cy="251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sz="311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311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orem ipsum dolor sit amet, consectetur adipiscing elit. Donec quis erat et quam iaculis faucibus at sit amet nibh. Vestibulum dignissim lectus in ligula rhoncus, et bibendum risus dictum.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1787" y="1652641"/>
            <a:ext cx="6946478" cy="1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0"/>
              </a:lnSpc>
            </a:pPr>
            <a:r>
              <a:rPr lang="en-US" sz="5152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Strategi Konten &amp; Kreatif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1787" y="4214495"/>
            <a:ext cx="6406243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Fusce consequat quam sit amet pellentesque rutrum. Curabitur ullamcorper maximus mi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12319" y="8224397"/>
            <a:ext cx="165887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sz="2999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Engange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9158" y="7382387"/>
            <a:ext cx="146412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40%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42604" y="7312854"/>
            <a:ext cx="139830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30%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32651" y="7382387"/>
            <a:ext cx="139830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50%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1787" y="8224397"/>
            <a:ext cx="165887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b="true" sz="2999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Educate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0369" y="8224397"/>
            <a:ext cx="224286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sz="2999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Promote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9119" y="1608734"/>
            <a:ext cx="7843828" cy="77360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87665"/>
            <a:ext cx="8336587" cy="8970635"/>
            <a:chOff x="0" y="0"/>
            <a:chExt cx="2772098" cy="2982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2098" cy="2982933"/>
            </a:xfrm>
            <a:custGeom>
              <a:avLst/>
              <a:gdLst/>
              <a:ahLst/>
              <a:cxnLst/>
              <a:rect r="r" b="b" t="t" l="l"/>
              <a:pathLst>
                <a:path h="2982933" w="2772098">
                  <a:moveTo>
                    <a:pt x="92867" y="0"/>
                  </a:moveTo>
                  <a:lnTo>
                    <a:pt x="2679231" y="0"/>
                  </a:lnTo>
                  <a:cubicBezTo>
                    <a:pt x="2703861" y="0"/>
                    <a:pt x="2727482" y="9784"/>
                    <a:pt x="2744898" y="27200"/>
                  </a:cubicBezTo>
                  <a:cubicBezTo>
                    <a:pt x="2762314" y="44616"/>
                    <a:pt x="2772098" y="68237"/>
                    <a:pt x="2772098" y="92867"/>
                  </a:cubicBezTo>
                  <a:lnTo>
                    <a:pt x="2772098" y="2890066"/>
                  </a:lnTo>
                  <a:cubicBezTo>
                    <a:pt x="2772098" y="2914696"/>
                    <a:pt x="2762314" y="2938317"/>
                    <a:pt x="2744898" y="2955733"/>
                  </a:cubicBezTo>
                  <a:cubicBezTo>
                    <a:pt x="2727482" y="2973149"/>
                    <a:pt x="2703861" y="2982933"/>
                    <a:pt x="2679231" y="2982933"/>
                  </a:cubicBezTo>
                  <a:lnTo>
                    <a:pt x="92867" y="2982933"/>
                  </a:lnTo>
                  <a:cubicBezTo>
                    <a:pt x="68237" y="2982933"/>
                    <a:pt x="44616" y="2973149"/>
                    <a:pt x="27200" y="2955733"/>
                  </a:cubicBezTo>
                  <a:cubicBezTo>
                    <a:pt x="9784" y="2938317"/>
                    <a:pt x="0" y="2914696"/>
                    <a:pt x="0" y="2890066"/>
                  </a:cubicBezTo>
                  <a:lnTo>
                    <a:pt x="0" y="92867"/>
                  </a:lnTo>
                  <a:cubicBezTo>
                    <a:pt x="0" y="68237"/>
                    <a:pt x="9784" y="44616"/>
                    <a:pt x="27200" y="27200"/>
                  </a:cubicBezTo>
                  <a:cubicBezTo>
                    <a:pt x="44616" y="9784"/>
                    <a:pt x="68237" y="0"/>
                    <a:pt x="92867" y="0"/>
                  </a:cubicBezTo>
                  <a:close/>
                </a:path>
              </a:pathLst>
            </a:custGeom>
            <a:blipFill>
              <a:blip r:embed="rId2"/>
              <a:stretch>
                <a:fillRect l="-30630" t="0" r="-3063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27095" y="2232929"/>
            <a:ext cx="5931306" cy="1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0"/>
              </a:lnSpc>
            </a:pPr>
            <a:r>
              <a:rPr lang="en-US" sz="5152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Proyeksi dan Penyusunan Data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7095" y="4374619"/>
            <a:ext cx="6480570" cy="300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  <a:spcBef>
                <a:spcPct val="0"/>
              </a:spcBef>
            </a:pPr>
            <a:r>
              <a:rPr lang="en-US" sz="309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309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orem ipsum dolor sit amet, consectetur adipiscing elit. Donec quis erat et quam iaculis faucibus at sit amet nibh. Vestibulum dignissim lectus in ligula rhoncus, et bibendum risus dictum.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97725" y="-271670"/>
            <a:ext cx="10364104" cy="1083034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81793" y="4154080"/>
            <a:ext cx="5879285" cy="350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  <a:spcBef>
                <a:spcPct val="0"/>
              </a:spcBef>
            </a:pPr>
            <a:r>
              <a:rPr lang="en-US" sz="310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310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orem ipsum dolor sit amet, consectetur adipiscing elit. Donec quis erat et quam iaculis faucibus at sit amet nibh. Vestibulum dignissim lectus in ligula rhoncus, et bibendum risus dictum.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1793" y="1900366"/>
            <a:ext cx="5582922" cy="1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0"/>
              </a:lnSpc>
            </a:pPr>
            <a:r>
              <a:rPr lang="en-US" sz="5152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Strategi Konten &amp; Kreatif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44817" y="1028700"/>
            <a:ext cx="7413171" cy="8644488"/>
            <a:chOff x="0" y="0"/>
            <a:chExt cx="1148494" cy="1339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8494" cy="1339257"/>
            </a:xfrm>
            <a:custGeom>
              <a:avLst/>
              <a:gdLst/>
              <a:ahLst/>
              <a:cxnLst/>
              <a:rect r="r" b="b" t="t" l="l"/>
              <a:pathLst>
                <a:path h="1339257" w="1148494">
                  <a:moveTo>
                    <a:pt x="104435" y="0"/>
                  </a:moveTo>
                  <a:lnTo>
                    <a:pt x="1044060" y="0"/>
                  </a:lnTo>
                  <a:cubicBezTo>
                    <a:pt x="1071757" y="0"/>
                    <a:pt x="1098321" y="11003"/>
                    <a:pt x="1117906" y="30588"/>
                  </a:cubicBezTo>
                  <a:cubicBezTo>
                    <a:pt x="1137491" y="50173"/>
                    <a:pt x="1148494" y="76737"/>
                    <a:pt x="1148494" y="104435"/>
                  </a:cubicBezTo>
                  <a:lnTo>
                    <a:pt x="1148494" y="1234823"/>
                  </a:lnTo>
                  <a:cubicBezTo>
                    <a:pt x="1148494" y="1262521"/>
                    <a:pt x="1137491" y="1289084"/>
                    <a:pt x="1117906" y="1308669"/>
                  </a:cubicBezTo>
                  <a:cubicBezTo>
                    <a:pt x="1098321" y="1328254"/>
                    <a:pt x="1071757" y="1339257"/>
                    <a:pt x="1044060" y="1339257"/>
                  </a:cubicBezTo>
                  <a:lnTo>
                    <a:pt x="104435" y="1339257"/>
                  </a:lnTo>
                  <a:cubicBezTo>
                    <a:pt x="76737" y="1339257"/>
                    <a:pt x="50173" y="1328254"/>
                    <a:pt x="30588" y="1308669"/>
                  </a:cubicBezTo>
                  <a:cubicBezTo>
                    <a:pt x="11003" y="1289084"/>
                    <a:pt x="0" y="1262521"/>
                    <a:pt x="0" y="1234823"/>
                  </a:cubicBezTo>
                  <a:lnTo>
                    <a:pt x="0" y="104435"/>
                  </a:lnTo>
                  <a:cubicBezTo>
                    <a:pt x="0" y="76737"/>
                    <a:pt x="11003" y="50173"/>
                    <a:pt x="30588" y="30588"/>
                  </a:cubicBezTo>
                  <a:cubicBezTo>
                    <a:pt x="50173" y="11003"/>
                    <a:pt x="76737" y="0"/>
                    <a:pt x="10443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434" r="0" b="-1443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828836"/>
            <a:ext cx="7917747" cy="204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7"/>
              </a:lnSpc>
            </a:pPr>
            <a:r>
              <a:rPr lang="en-US" sz="6862" b="true">
                <a:solidFill>
                  <a:srgbClr val="F3F3F3"/>
                </a:solidFill>
                <a:latin typeface="Inter Bold"/>
                <a:ea typeface="Inter Bold"/>
                <a:cs typeface="Inter Bold"/>
                <a:sym typeface="Inter Bold"/>
              </a:rPr>
              <a:t>Terima Kasih atas Perhatiannya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755132"/>
            <a:ext cx="494324" cy="407670"/>
          </a:xfrm>
          <a:custGeom>
            <a:avLst/>
            <a:gdLst/>
            <a:ahLst/>
            <a:cxnLst/>
            <a:rect r="r" b="b" t="t" l="l"/>
            <a:pathLst>
              <a:path h="407670" w="494324">
                <a:moveTo>
                  <a:pt x="0" y="0"/>
                </a:moveTo>
                <a:lnTo>
                  <a:pt x="494324" y="0"/>
                </a:lnTo>
                <a:lnTo>
                  <a:pt x="494324" y="407670"/>
                </a:lnTo>
                <a:lnTo>
                  <a:pt x="0" y="4076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00220" y="1767251"/>
            <a:ext cx="1203041" cy="39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  <a:spcBef>
                <a:spcPct val="0"/>
              </a:spcBef>
            </a:pPr>
            <a:r>
              <a:rPr lang="en-US" sz="24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Rentago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8083540"/>
            <a:ext cx="440585" cy="440585"/>
          </a:xfrm>
          <a:custGeom>
            <a:avLst/>
            <a:gdLst/>
            <a:ahLst/>
            <a:cxnLst/>
            <a:rect r="r" b="b" t="t" l="l"/>
            <a:pathLst>
              <a:path h="440585" w="440585">
                <a:moveTo>
                  <a:pt x="0" y="0"/>
                </a:moveTo>
                <a:lnTo>
                  <a:pt x="440585" y="0"/>
                </a:lnTo>
                <a:lnTo>
                  <a:pt x="440585" y="440585"/>
                </a:lnTo>
                <a:lnTo>
                  <a:pt x="0" y="440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3350" y="8098958"/>
            <a:ext cx="5524979" cy="43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sz="270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www.situssupercanggih.co.id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DAHX_93iyD4</dc:identifier>
  <dcterms:modified xsi:type="dcterms:W3CDTF">2011-08-01T06:04:30Z</dcterms:modified>
  <cp:revision>1</cp:revision>
  <dc:title>Fitness Tracking Eye</dc:title>
</cp:coreProperties>
</file>